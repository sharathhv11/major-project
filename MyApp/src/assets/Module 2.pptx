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5" r:id="rId10"/>
    <p:sldId id="266" r:id="rId11"/>
    <p:sldId id="264" r:id="rId12"/>
    <p:sldId id="268" r:id="rId13"/>
    <p:sldId id="269" r:id="rId14"/>
    <p:sldId id="267" r:id="rId15"/>
    <p:sldId id="270" r:id="rId16"/>
    <p:sldId id="271" r:id="rId17"/>
    <p:sldId id="272" r:id="rId18"/>
    <p:sldId id="275" r:id="rId19"/>
    <p:sldId id="276" r:id="rId20"/>
    <p:sldId id="277" r:id="rId21"/>
    <p:sldId id="278" r:id="rId22"/>
    <p:sldId id="279" r:id="rId23"/>
    <p:sldId id="282" r:id="rId24"/>
    <p:sldId id="280" r:id="rId25"/>
    <p:sldId id="283" r:id="rId26"/>
    <p:sldId id="28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7015" autoAdjust="0"/>
    <p:restoredTop sz="94660"/>
  </p:normalViewPr>
  <p:slideViewPr>
    <p:cSldViewPr snapToGrid="0">
      <p:cViewPr varScale="1">
        <p:scale>
          <a:sx n="87" d="100"/>
          <a:sy n="87" d="100"/>
        </p:scale>
        <p:origin x="-437" y="-8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0000"/>
                    <a:lumOff val="10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1E09254E-C706-4FC2-B546-9B9AB377BA24}"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C650F3-5C85-4D59-A011-A1AA7A2E958A}" type="slidenum">
              <a:rPr lang="en-US" smtClean="0"/>
              <a:pPr/>
              <a:t>‹#›</a:t>
            </a:fld>
            <a:endParaRPr lang="en-US"/>
          </a:p>
        </p:txBody>
      </p:sp>
      <p:cxnSp>
        <p:nvCxnSpPr>
          <p:cNvPr id="8" name="Straight Connector 7"/>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436438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E09254E-C706-4FC2-B546-9B9AB377BA24}"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C650F3-5C85-4D59-A011-A1AA7A2E958A}" type="slidenum">
              <a:rPr lang="en-US" smtClean="0"/>
              <a:pPr/>
              <a:t>‹#›</a:t>
            </a:fld>
            <a:endParaRPr lang="en-US"/>
          </a:p>
        </p:txBody>
      </p:sp>
    </p:spTree>
    <p:extLst>
      <p:ext uri="{BB962C8B-B14F-4D97-AF65-F5344CB8AC3E}">
        <p14:creationId xmlns:p14="http://schemas.microsoft.com/office/powerpoint/2010/main" xmlns="" val="3389373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09254E-C706-4FC2-B546-9B9AB377BA24}"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C650F3-5C85-4D59-A011-A1AA7A2E958A}" type="slidenum">
              <a:rPr lang="en-US" smtClean="0"/>
              <a:pPr/>
              <a:t>‹#›</a:t>
            </a:fld>
            <a:endParaRPr lang="en-US"/>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163180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E09254E-C706-4FC2-B546-9B9AB377BA24}"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C650F3-5C85-4D59-A011-A1AA7A2E958A}" type="slidenum">
              <a:rPr lang="en-US" smtClean="0"/>
              <a:pPr/>
              <a:t>‹#›</a:t>
            </a:fld>
            <a:endParaRPr lang="en-US"/>
          </a:p>
        </p:txBody>
      </p:sp>
    </p:spTree>
    <p:extLst>
      <p:ext uri="{BB962C8B-B14F-4D97-AF65-F5344CB8AC3E}">
        <p14:creationId xmlns:p14="http://schemas.microsoft.com/office/powerpoint/2010/main" xmlns="" val="4133191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24128" y="2967788"/>
            <a:ext cx="4754880" cy="3341572"/>
          </a:xfrm>
        </p:spPr>
        <p:txBody>
          <a:bodyPr lIns="45720" rIns="4572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Click to edit Master text styles</a:t>
            </a:r>
          </a:p>
        </p:txBody>
      </p:sp>
      <p:sp>
        <p:nvSpPr>
          <p:cNvPr id="6" name="Content Placeholder 5"/>
          <p:cNvSpPr>
            <a:spLocks noGrp="1"/>
          </p:cNvSpPr>
          <p:nvPr>
            <p:ph sz="quarter" idx="4"/>
          </p:nvPr>
        </p:nvSpPr>
        <p:spPr>
          <a:xfrm>
            <a:off x="5989320" y="2967788"/>
            <a:ext cx="4754880" cy="3341572"/>
          </a:xfrm>
        </p:spPr>
        <p:txBody>
          <a:bodyPr lIns="45720" rIns="4572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E09254E-C706-4FC2-B546-9B9AB377BA24}" type="datetimeFigureOut">
              <a:rPr lang="en-US" smtClean="0"/>
              <a:pPr/>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C650F3-5C85-4D59-A011-A1AA7A2E958A}" type="slidenum">
              <a:rPr lang="en-US" smtClean="0"/>
              <a:pPr/>
              <a:t>‹#›</a:t>
            </a:fld>
            <a:endParaRPr lang="en-US"/>
          </a:p>
        </p:txBody>
      </p:sp>
    </p:spTree>
    <p:extLst>
      <p:ext uri="{BB962C8B-B14F-4D97-AF65-F5344CB8AC3E}">
        <p14:creationId xmlns:p14="http://schemas.microsoft.com/office/powerpoint/2010/main" xmlns="" val="856262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E09254E-C706-4FC2-B546-9B9AB377BA24}" type="datetimeFigureOut">
              <a:rPr lang="en-US" smtClean="0"/>
              <a:pPr/>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C650F3-5C85-4D59-A011-A1AA7A2E958A}" type="slidenum">
              <a:rPr lang="en-US" smtClean="0"/>
              <a:pPr/>
              <a:t>‹#›</a:t>
            </a:fld>
            <a:endParaRPr lang="en-US"/>
          </a:p>
        </p:txBody>
      </p:sp>
    </p:spTree>
    <p:extLst>
      <p:ext uri="{BB962C8B-B14F-4D97-AF65-F5344CB8AC3E}">
        <p14:creationId xmlns:p14="http://schemas.microsoft.com/office/powerpoint/2010/main" xmlns="" val="2320775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09254E-C706-4FC2-B546-9B9AB377BA24}" type="datetimeFigureOut">
              <a:rPr lang="en-US" smtClean="0"/>
              <a:pPr/>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C650F3-5C85-4D59-A011-A1AA7A2E958A}" type="slidenum">
              <a:rPr lang="en-US" smtClean="0"/>
              <a:pPr/>
              <a:t>‹#›</a:t>
            </a:fld>
            <a:endParaRPr lang="en-US"/>
          </a:p>
        </p:txBody>
      </p:sp>
    </p:spTree>
    <p:extLst>
      <p:ext uri="{BB962C8B-B14F-4D97-AF65-F5344CB8AC3E}">
        <p14:creationId xmlns:p14="http://schemas.microsoft.com/office/powerpoint/2010/main" xmlns="" val="2730300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09254E-C706-4FC2-B546-9B9AB377BA24}"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C650F3-5C85-4D59-A011-A1AA7A2E958A}" type="slidenum">
              <a:rPr lang="en-US" smtClean="0"/>
              <a:pPr/>
              <a:t>‹#›</a:t>
            </a:fld>
            <a:endParaRPr lang="en-US"/>
          </a:p>
        </p:txBody>
      </p:sp>
    </p:spTree>
    <p:extLst>
      <p:ext uri="{BB962C8B-B14F-4D97-AF65-F5344CB8AC3E}">
        <p14:creationId xmlns:p14="http://schemas.microsoft.com/office/powerpoint/2010/main" xmlns="" val="3798701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09254E-C706-4FC2-B546-9B9AB377BA24}"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C650F3-5C85-4D59-A011-A1AA7A2E958A}" type="slidenum">
              <a:rPr lang="en-US" smtClean="0"/>
              <a:pPr/>
              <a:t>‹#›</a:t>
            </a:fld>
            <a:endParaRPr lang="en-US"/>
          </a:p>
        </p:txBody>
      </p:sp>
      <p:cxnSp>
        <p:nvCxnSpPr>
          <p:cNvPr id="9" name="Straight Connector 8"/>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526359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E09254E-C706-4FC2-B546-9B9AB377BA24}"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C650F3-5C85-4D59-A011-A1AA7A2E958A}" type="slidenum">
              <a:rPr lang="en-US" smtClean="0"/>
              <a:pPr/>
              <a:t>‹#›</a:t>
            </a:fld>
            <a:endParaRPr lang="en-US"/>
          </a:p>
        </p:txBody>
      </p:sp>
    </p:spTree>
    <p:extLst>
      <p:ext uri="{BB962C8B-B14F-4D97-AF65-F5344CB8AC3E}">
        <p14:creationId xmlns:p14="http://schemas.microsoft.com/office/powerpoint/2010/main" xmlns="" val="725988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E09254E-C706-4FC2-B546-9B9AB377BA24}"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C650F3-5C85-4D59-A011-A1AA7A2E958A}" type="slidenum">
              <a:rPr lang="en-US" smtClean="0"/>
              <a:pPr/>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074071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1E09254E-C706-4FC2-B546-9B9AB377BA24}" type="datetimeFigureOut">
              <a:rPr lang="en-US" smtClean="0"/>
              <a:pPr/>
              <a:t>10/7/2026</a:t>
            </a:fld>
            <a:endParaRPr lang="en-US"/>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endParaRPr lang="en-US"/>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0FC650F3-5C85-4D59-A011-A1AA7A2E958A}" type="slidenum">
              <a:rPr lang="en-US" smtClean="0"/>
              <a:pPr/>
              <a:t>‹#›</a:t>
            </a:fld>
            <a:endParaRPr lang="en-US"/>
          </a:p>
        </p:txBody>
      </p:sp>
      <p:cxnSp>
        <p:nvCxnSpPr>
          <p:cNvPr id="7" name="Straight Connector 6"/>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21289358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34179" y="1108899"/>
            <a:ext cx="7772400" cy="1463040"/>
          </a:xfrm>
        </p:spPr>
        <p:txBody>
          <a:bodyPr>
            <a:normAutofit fontScale="90000"/>
          </a:bodyPr>
          <a:lstStyle/>
          <a:p>
            <a:pPr algn="ctr"/>
            <a:r>
              <a:rPr lang="en-US" b="1" dirty="0" smtClean="0"/>
              <a:t>Module 2</a:t>
            </a:r>
            <a:br>
              <a:rPr lang="en-US" b="1" dirty="0" smtClean="0"/>
            </a:br>
            <a:r>
              <a:rPr lang="en-US" b="1" dirty="0" smtClean="0"/>
              <a:t/>
            </a:r>
            <a:br>
              <a:rPr lang="en-US" b="1" dirty="0" smtClean="0"/>
            </a:br>
            <a:r>
              <a:rPr lang="en-US" b="1" dirty="0" smtClean="0"/>
              <a:t>Exploratory </a:t>
            </a:r>
            <a:r>
              <a:rPr lang="en-US" b="1" dirty="0"/>
              <a:t>Data Analysis and the Data Science Process</a:t>
            </a:r>
          </a:p>
        </p:txBody>
      </p:sp>
      <p:sp>
        <p:nvSpPr>
          <p:cNvPr id="3" name="Subtitle 2"/>
          <p:cNvSpPr>
            <a:spLocks noGrp="1"/>
          </p:cNvSpPr>
          <p:nvPr>
            <p:ph type="subTitle" idx="1"/>
          </p:nvPr>
        </p:nvSpPr>
        <p:spPr/>
        <p:txBody>
          <a:bodyPr/>
          <a:lstStyle/>
          <a:p>
            <a:r>
              <a:rPr lang="en-US" dirty="0" smtClean="0"/>
              <a:t>Ananya A</a:t>
            </a:r>
          </a:p>
        </p:txBody>
      </p:sp>
    </p:spTree>
    <p:extLst>
      <p:ext uri="{BB962C8B-B14F-4D97-AF65-F5344CB8AC3E}">
        <p14:creationId xmlns:p14="http://schemas.microsoft.com/office/powerpoint/2010/main" xmlns="" val="20010376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Exploratory Data Analysis</a:t>
            </a:r>
          </a:p>
        </p:txBody>
      </p:sp>
      <p:sp>
        <p:nvSpPr>
          <p:cNvPr id="3" name="Content Placeholder 2"/>
          <p:cNvSpPr>
            <a:spLocks noGrp="1"/>
          </p:cNvSpPr>
          <p:nvPr>
            <p:ph idx="1"/>
          </p:nvPr>
        </p:nvSpPr>
        <p:spPr>
          <a:xfrm>
            <a:off x="1024128" y="1828800"/>
            <a:ext cx="9720071" cy="4480560"/>
          </a:xfrm>
        </p:spPr>
        <p:txBody>
          <a:bodyPr/>
          <a:lstStyle/>
          <a:p>
            <a:pPr algn="just">
              <a:buFont typeface="Arial" panose="020B0604020202020204" pitchFamily="34" charset="0"/>
              <a:buChar char="•"/>
            </a:pPr>
            <a:r>
              <a:rPr lang="en-US" dirty="0">
                <a:latin typeface="Bookman Old Style" panose="02050604050505020204" pitchFamily="18" charset="0"/>
              </a:rPr>
              <a:t>EDA is the process of exploring and understanding a dataset before building a statistical or machine-learning model.</a:t>
            </a:r>
          </a:p>
          <a:p>
            <a:pPr algn="just">
              <a:buFont typeface="Arial" panose="020B0604020202020204" pitchFamily="34" charset="0"/>
              <a:buChar char="•"/>
            </a:pPr>
            <a:r>
              <a:rPr lang="en-US" dirty="0">
                <a:latin typeface="Bookman Old Style" panose="02050604050505020204" pitchFamily="18" charset="0"/>
              </a:rPr>
              <a:t>Exploratory Data Analysis (EDA) is a crucial mindset and approach in data science, characterized by flexibility and openness to discovering both expected and unexpected insights within data. </a:t>
            </a:r>
            <a:endParaRPr lang="en-US" dirty="0" smtClean="0">
              <a:latin typeface="Bookman Old Style" panose="02050604050505020204" pitchFamily="18" charset="0"/>
            </a:endParaRPr>
          </a:p>
          <a:p>
            <a:pPr marL="0" indent="0">
              <a:buNone/>
            </a:pPr>
            <a:endParaRPr lang="en-US" dirty="0"/>
          </a:p>
        </p:txBody>
      </p:sp>
    </p:spTree>
    <p:extLst>
      <p:ext uri="{BB962C8B-B14F-4D97-AF65-F5344CB8AC3E}">
        <p14:creationId xmlns:p14="http://schemas.microsoft.com/office/powerpoint/2010/main" xmlns="" val="6694062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6552" y="844475"/>
            <a:ext cx="9720071" cy="4023360"/>
          </a:xfrm>
        </p:spPr>
        <p:txBody>
          <a:bodyPr/>
          <a:lstStyle/>
          <a:p>
            <a:pPr>
              <a:buFont typeface="Arial" panose="020B0604020202020204" pitchFamily="34" charset="0"/>
              <a:buChar char="•"/>
            </a:pPr>
            <a:r>
              <a:rPr lang="en-US" dirty="0"/>
              <a:t>Bell Labs is a research lab dating back to the </a:t>
            </a:r>
            <a:r>
              <a:rPr lang="en-US" b="1" dirty="0"/>
              <a:t>1920s</a:t>
            </a:r>
            <a:r>
              <a:rPr lang="en-US" dirty="0"/>
              <a:t>.</a:t>
            </a:r>
          </a:p>
          <a:p>
            <a:pPr>
              <a:buFont typeface="Arial" panose="020B0604020202020204" pitchFamily="34" charset="0"/>
              <a:buChar char="•"/>
            </a:pPr>
            <a:r>
              <a:rPr lang="en-US" dirty="0"/>
              <a:t>It contributed to </a:t>
            </a:r>
            <a:r>
              <a:rPr lang="en-US" b="1" dirty="0"/>
              <a:t>physics, computer science, statistics, and mathematics</a:t>
            </a:r>
            <a:r>
              <a:rPr lang="en-US" dirty="0"/>
              <a:t>.</a:t>
            </a:r>
          </a:p>
          <a:p>
            <a:pPr>
              <a:buFont typeface="Arial" panose="020B0604020202020204" pitchFamily="34" charset="0"/>
              <a:buChar char="•"/>
            </a:pPr>
            <a:r>
              <a:rPr lang="en-US" b="1" dirty="0"/>
              <a:t>John Tukey</a:t>
            </a:r>
            <a:r>
              <a:rPr lang="en-US" dirty="0"/>
              <a:t> is considered the </a:t>
            </a:r>
            <a:r>
              <a:rPr lang="en-US" b="1" dirty="0"/>
              <a:t>father of EDA</a:t>
            </a:r>
            <a:r>
              <a:rPr lang="en-US" dirty="0"/>
              <a:t>.</a:t>
            </a:r>
          </a:p>
          <a:p>
            <a:pPr>
              <a:buFont typeface="Arial" panose="020B0604020202020204" pitchFamily="34" charset="0"/>
              <a:buChar char="•"/>
            </a:pPr>
            <a:r>
              <a:rPr lang="en-US" dirty="0"/>
              <a:t>Tukey was interested in </a:t>
            </a:r>
            <a:r>
              <a:rPr lang="en-US" b="1" dirty="0"/>
              <a:t>visualizing high-dimensional data</a:t>
            </a:r>
            <a:r>
              <a:rPr lang="en-US" dirty="0"/>
              <a:t>.</a:t>
            </a:r>
          </a:p>
          <a:p>
            <a:pPr>
              <a:buFont typeface="Arial" panose="020B0604020202020204" pitchFamily="34" charset="0"/>
              <a:buChar char="•"/>
            </a:pPr>
            <a:r>
              <a:rPr lang="en-US" dirty="0"/>
              <a:t>Bell Labs encouraged </a:t>
            </a:r>
            <a:r>
              <a:rPr lang="en-US" b="1" dirty="0"/>
              <a:t>collaboration between different disciplines</a:t>
            </a:r>
            <a:r>
              <a:rPr lang="en-US" dirty="0"/>
              <a:t>.</a:t>
            </a:r>
          </a:p>
          <a:p>
            <a:pPr>
              <a:buFont typeface="Arial" panose="020B0604020202020204" pitchFamily="34" charset="0"/>
              <a:buChar char="•"/>
            </a:pPr>
            <a:r>
              <a:rPr lang="en-US" dirty="0"/>
              <a:t>It is considered one of the places where </a:t>
            </a:r>
            <a:r>
              <a:rPr lang="en-US" b="1" dirty="0"/>
              <a:t>data science was “born.”</a:t>
            </a:r>
            <a:endParaRPr lang="en-US" dirty="0"/>
          </a:p>
          <a:p>
            <a:endParaRPr lang="en-US" dirty="0"/>
          </a:p>
        </p:txBody>
      </p:sp>
    </p:spTree>
    <p:extLst>
      <p:ext uri="{BB962C8B-B14F-4D97-AF65-F5344CB8AC3E}">
        <p14:creationId xmlns:p14="http://schemas.microsoft.com/office/powerpoint/2010/main" xmlns="" val="29202091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4128" y="710005"/>
            <a:ext cx="9720071" cy="5599355"/>
          </a:xfrm>
        </p:spPr>
        <p:txBody>
          <a:bodyPr>
            <a:normAutofit fontScale="92500" lnSpcReduction="10000"/>
          </a:bodyPr>
          <a:lstStyle/>
          <a:p>
            <a:pPr algn="just"/>
            <a:r>
              <a:rPr lang="en-US" dirty="0">
                <a:latin typeface="Bookman Old Style" panose="02050604050505020204" pitchFamily="18" charset="0"/>
              </a:rPr>
              <a:t>Here's a breakdown of the key points:</a:t>
            </a:r>
          </a:p>
          <a:p>
            <a:pPr lvl="1" algn="just"/>
            <a:r>
              <a:rPr lang="en-US" b="1" dirty="0">
                <a:latin typeface="Bookman Old Style" panose="02050604050505020204" pitchFamily="18" charset="0"/>
              </a:rPr>
              <a:t>Attitude and Philosophy: </a:t>
            </a:r>
            <a:r>
              <a:rPr lang="en-US" dirty="0">
                <a:latin typeface="Bookman Old Style" panose="02050604050505020204" pitchFamily="18" charset="0"/>
              </a:rPr>
              <a:t>EDA is described as an attitude towards data analysis, as articulated by John Tukey, a mathematician at Bell Labs. It involves being open-minded and willing to explore data without preconceived hypotheses or models.</a:t>
            </a:r>
          </a:p>
          <a:p>
            <a:pPr lvl="1" algn="just"/>
            <a:r>
              <a:rPr lang="en-US" b="1" dirty="0">
                <a:latin typeface="Bookman Old Style" panose="02050604050505020204" pitchFamily="18" charset="0"/>
              </a:rPr>
              <a:t>Importance in Data Science: </a:t>
            </a:r>
            <a:r>
              <a:rPr lang="en-US" dirty="0">
                <a:latin typeface="Bookman Old Style" panose="02050604050505020204" pitchFamily="18" charset="0"/>
              </a:rPr>
              <a:t>While often overlooked, EDA is foundational in the data science process. It's not just about creating histograms and plots but understanding the underlying philosophy and mindset behind it.</a:t>
            </a:r>
          </a:p>
          <a:p>
            <a:pPr lvl="1" algn="just"/>
            <a:r>
              <a:rPr lang="en-US" b="1" dirty="0">
                <a:latin typeface="Bookman Old Style" panose="02050604050505020204" pitchFamily="18" charset="0"/>
              </a:rPr>
              <a:t>Contrast with Confirmatory Data Analysis:</a:t>
            </a:r>
            <a:r>
              <a:rPr lang="en-US" dirty="0">
                <a:latin typeface="Bookman Old Style" panose="02050604050505020204" pitchFamily="18" charset="0"/>
              </a:rPr>
              <a:t> EDA stands in contrast to confirmatory data analysis, which focuses on modeling and testing hypotheses. In EDA, there's no fixed hypothesis or model; instead, the understanding of the problem evolves as exploration progresses</a:t>
            </a:r>
            <a:r>
              <a:rPr lang="en-US" dirty="0" smtClean="0">
                <a:latin typeface="Bookman Old Style" panose="02050604050505020204" pitchFamily="18" charset="0"/>
              </a:rPr>
              <a:t>.</a:t>
            </a:r>
          </a:p>
          <a:p>
            <a:pPr lvl="1" algn="just"/>
            <a:r>
              <a:rPr lang="en-US" b="1" dirty="0">
                <a:latin typeface="Bookman Old Style" panose="02050604050505020204" pitchFamily="18" charset="0"/>
              </a:rPr>
              <a:t>Basic Tools: </a:t>
            </a:r>
            <a:r>
              <a:rPr lang="en-US" dirty="0">
                <a:latin typeface="Bookman Old Style" panose="02050604050505020204" pitchFamily="18" charset="0"/>
              </a:rPr>
              <a:t>EDA utilizes various tools such as plots, graphs, and summary statistics to systematically analyze data. This includes plotting distributions of variables, examining time series data, transforming variables, and exploring pairwise relationships through scatterplot matrices.</a:t>
            </a:r>
          </a:p>
          <a:p>
            <a:pPr lvl="1" algn="just"/>
            <a:r>
              <a:rPr lang="en-US" b="1" dirty="0">
                <a:latin typeface="Bookman Old Style" panose="02050604050505020204" pitchFamily="18" charset="0"/>
              </a:rPr>
              <a:t>Summary Statistics:</a:t>
            </a:r>
            <a:r>
              <a:rPr lang="en-US" dirty="0">
                <a:latin typeface="Bookman Old Style" panose="02050604050505020204" pitchFamily="18" charset="0"/>
              </a:rPr>
              <a:t> Key summary statistics like mean, minimum, maximum, quartiles, and outlier identification are essential components of EDA, providing a comprehensive overview of the data.</a:t>
            </a:r>
          </a:p>
          <a:p>
            <a:pPr lvl="1" algn="just"/>
            <a:r>
              <a:rPr lang="en-US" b="1" dirty="0">
                <a:latin typeface="Bookman Old Style" panose="02050604050505020204" pitchFamily="18" charset="0"/>
              </a:rPr>
              <a:t>Mindset:</a:t>
            </a:r>
            <a:r>
              <a:rPr lang="en-US" dirty="0">
                <a:latin typeface="Bookman Old Style" panose="02050604050505020204" pitchFamily="18" charset="0"/>
              </a:rPr>
              <a:t> Beyond just tools, EDA represents a mindset or approach to understanding data. It's about developing an intuitive understanding of the data's shape, patterns, and underlying processes. EDA is a personal exploration between the analyst and the data, aimed at gaining insight rather than proving anything to others.</a:t>
            </a:r>
            <a:endParaRPr lang="en-IN" dirty="0">
              <a:latin typeface="Bookman Old Style" panose="02050604050505020204" pitchFamily="18" charset="0"/>
            </a:endParaRPr>
          </a:p>
          <a:p>
            <a:pPr lvl="1"/>
            <a:endParaRPr lang="en-IN" dirty="0">
              <a:latin typeface="Bookman Old Style" panose="02050604050505020204" pitchFamily="18" charset="0"/>
            </a:endParaRPr>
          </a:p>
          <a:p>
            <a:endParaRPr lang="en-US" dirty="0"/>
          </a:p>
        </p:txBody>
      </p:sp>
    </p:spTree>
    <p:extLst>
      <p:ext uri="{BB962C8B-B14F-4D97-AF65-F5344CB8AC3E}">
        <p14:creationId xmlns:p14="http://schemas.microsoft.com/office/powerpoint/2010/main" xmlns="" val="29369341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961733"/>
            <a:ext cx="9720072" cy="737975"/>
          </a:xfrm>
        </p:spPr>
        <p:txBody>
          <a:bodyPr>
            <a:noAutofit/>
          </a:bodyPr>
          <a:lstStyle/>
          <a:p>
            <a:pPr algn="ctr"/>
            <a:r>
              <a:rPr lang="en-US" sz="3200" b="1" dirty="0">
                <a:solidFill>
                  <a:schemeClr val="tx1"/>
                </a:solidFill>
                <a:latin typeface="Bookman Old Style" panose="02050604050505020204" pitchFamily="18" charset="0"/>
              </a:rPr>
              <a:t>Philosophy of Exploratory Data Analysis</a:t>
            </a:r>
            <a:endParaRPr lang="en-US" sz="3200" b="1" dirty="0"/>
          </a:p>
        </p:txBody>
      </p:sp>
      <p:sp>
        <p:nvSpPr>
          <p:cNvPr id="3" name="Content Placeholder 2"/>
          <p:cNvSpPr>
            <a:spLocks noGrp="1"/>
          </p:cNvSpPr>
          <p:nvPr>
            <p:ph idx="1"/>
          </p:nvPr>
        </p:nvSpPr>
        <p:spPr>
          <a:xfrm>
            <a:off x="1024128" y="2022438"/>
            <a:ext cx="9720071" cy="4286922"/>
          </a:xfrm>
        </p:spPr>
        <p:txBody>
          <a:bodyPr/>
          <a:lstStyle/>
          <a:p>
            <a:pPr algn="just"/>
            <a:r>
              <a:rPr lang="en-US" sz="2400" dirty="0">
                <a:latin typeface="Bookman Old Style" panose="02050604050505020204" pitchFamily="18" charset="0"/>
              </a:rPr>
              <a:t>The philosophy of Exploratory Data Analysis (EDA) encompasses several important points:</a:t>
            </a:r>
          </a:p>
          <a:p>
            <a:pPr lvl="1" algn="just"/>
            <a:r>
              <a:rPr lang="en-US" sz="2000" b="1" dirty="0">
                <a:latin typeface="Bookman Old Style" panose="02050604050505020204" pitchFamily="18" charset="0"/>
              </a:rPr>
              <a:t>Understanding before Convincing: </a:t>
            </a:r>
            <a:r>
              <a:rPr lang="en-US" sz="2000" dirty="0">
                <a:latin typeface="Bookman Old Style" panose="02050604050505020204" pitchFamily="18" charset="0"/>
              </a:rPr>
              <a:t>Before attempting to convince others of your findings, it's crucial to first understand the data yourself. This emphasizes the importance of thorough exploration and comprehension.</a:t>
            </a:r>
          </a:p>
          <a:p>
            <a:pPr lvl="1" algn="just"/>
            <a:r>
              <a:rPr lang="en-US" sz="2000" b="1" dirty="0">
                <a:latin typeface="Bookman Old Style" panose="02050604050505020204" pitchFamily="18" charset="0"/>
              </a:rPr>
              <a:t>Learning from Experts: </a:t>
            </a:r>
            <a:r>
              <a:rPr lang="en-US" sz="2000" dirty="0">
                <a:latin typeface="Bookman Old Style" panose="02050604050505020204" pitchFamily="18" charset="0"/>
              </a:rPr>
              <a:t>Learning from experienced statisticians, such as those from Bell Labs/AT&amp;T like Daryl </a:t>
            </a:r>
            <a:r>
              <a:rPr lang="en-US" sz="2000" dirty="0" err="1">
                <a:latin typeface="Bookman Old Style" panose="02050604050505020204" pitchFamily="18" charset="0"/>
              </a:rPr>
              <a:t>Pregibon</a:t>
            </a:r>
            <a:r>
              <a:rPr lang="en-US" sz="2000" dirty="0">
                <a:latin typeface="Bookman Old Style" panose="02050604050505020204" pitchFamily="18" charset="0"/>
              </a:rPr>
              <a:t> and Diane Lambert, can help in adopting EDA as a best practice.</a:t>
            </a:r>
          </a:p>
          <a:p>
            <a:pPr lvl="1" algn="just"/>
            <a:r>
              <a:rPr lang="en-US" sz="2000" b="1" dirty="0">
                <a:latin typeface="Bookman Old Style" panose="02050604050505020204" pitchFamily="18" charset="0"/>
              </a:rPr>
              <a:t>Importance in Large-scale Data: </a:t>
            </a:r>
            <a:r>
              <a:rPr lang="en-US" sz="2000" dirty="0">
                <a:latin typeface="Bookman Old Style" panose="02050604050505020204" pitchFamily="18" charset="0"/>
              </a:rPr>
              <a:t>Even with large-scale datasets like those found in companies like Google, EDA remains essential. It serves similar purposes to smaller datasets but also aids in debugging processes, particularly with data generated from logs.</a:t>
            </a:r>
            <a:endParaRPr lang="en-IN" sz="2000" dirty="0">
              <a:latin typeface="Bookman Old Style" panose="02050604050505020204" pitchFamily="18" charset="0"/>
            </a:endParaRPr>
          </a:p>
          <a:p>
            <a:endParaRPr lang="en-US" dirty="0"/>
          </a:p>
        </p:txBody>
      </p:sp>
    </p:spTree>
    <p:extLst>
      <p:ext uri="{BB962C8B-B14F-4D97-AF65-F5344CB8AC3E}">
        <p14:creationId xmlns:p14="http://schemas.microsoft.com/office/powerpoint/2010/main" xmlns="" val="30652717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4128" y="892885"/>
            <a:ext cx="9720071" cy="5416475"/>
          </a:xfrm>
        </p:spPr>
        <p:txBody>
          <a:bodyPr/>
          <a:lstStyle/>
          <a:p>
            <a:pPr lvl="1" algn="just"/>
            <a:r>
              <a:rPr lang="en-US" sz="2000" b="1" dirty="0">
                <a:latin typeface="Bookman Old Style" panose="02050604050505020204" pitchFamily="18" charset="0"/>
              </a:rPr>
              <a:t>Reasons for Conducting EDA:</a:t>
            </a:r>
            <a:r>
              <a:rPr lang="en-US" sz="2000" dirty="0">
                <a:latin typeface="Bookman Old Style" panose="02050604050505020204" pitchFamily="18" charset="0"/>
              </a:rPr>
              <a:t> There are several important reasons for conducting EDA:</a:t>
            </a:r>
          </a:p>
          <a:p>
            <a:pPr lvl="2" algn="just"/>
            <a:r>
              <a:rPr lang="en-US" sz="2000" dirty="0">
                <a:latin typeface="Bookman Old Style" panose="02050604050505020204" pitchFamily="18" charset="0"/>
              </a:rPr>
              <a:t>Gaining intuition about the data</a:t>
            </a:r>
          </a:p>
          <a:p>
            <a:pPr lvl="2" algn="just"/>
            <a:r>
              <a:rPr lang="en-US" sz="2000" dirty="0">
                <a:latin typeface="Bookman Old Style" panose="02050604050505020204" pitchFamily="18" charset="0"/>
              </a:rPr>
              <a:t>Making comparisons between distributions</a:t>
            </a:r>
          </a:p>
          <a:p>
            <a:pPr lvl="2" algn="just"/>
            <a:r>
              <a:rPr lang="en-US" sz="2000" dirty="0">
                <a:latin typeface="Bookman Old Style" panose="02050604050505020204" pitchFamily="18" charset="0"/>
              </a:rPr>
              <a:t>Sanity checking data to ensure it aligns with expectations</a:t>
            </a:r>
          </a:p>
          <a:p>
            <a:pPr lvl="2" algn="just"/>
            <a:r>
              <a:rPr lang="en-US" sz="2000" dirty="0">
                <a:latin typeface="Bookman Old Style" panose="02050604050505020204" pitchFamily="18" charset="0"/>
              </a:rPr>
              <a:t>Identifying missing data and outliers</a:t>
            </a:r>
          </a:p>
          <a:p>
            <a:pPr lvl="2" algn="just"/>
            <a:r>
              <a:rPr lang="en-US" sz="2000" dirty="0">
                <a:latin typeface="Bookman Old Style" panose="02050604050505020204" pitchFamily="18" charset="0"/>
              </a:rPr>
              <a:t>Summarizing the data for better understanding.</a:t>
            </a:r>
          </a:p>
          <a:p>
            <a:pPr lvl="1" algn="just"/>
            <a:r>
              <a:rPr lang="en-US" sz="2000" b="1" dirty="0">
                <a:latin typeface="Bookman Old Style" panose="02050604050505020204" pitchFamily="18" charset="0"/>
              </a:rPr>
              <a:t>Debugging Processes: </a:t>
            </a:r>
            <a:r>
              <a:rPr lang="en-US" sz="2000" dirty="0">
                <a:latin typeface="Bookman Old Style" panose="02050604050505020204" pitchFamily="18" charset="0"/>
              </a:rPr>
              <a:t>EDA helps in debugging the logging process, ensuring that apparent patterns in the data aren't artifacts of errors in data collection.</a:t>
            </a:r>
          </a:p>
          <a:p>
            <a:pPr lvl="1" algn="just"/>
            <a:r>
              <a:rPr lang="en-US" sz="2000" b="1" dirty="0">
                <a:latin typeface="Bookman Old Style" panose="02050604050505020204" pitchFamily="18" charset="0"/>
              </a:rPr>
              <a:t>Ensuring Product Performance: </a:t>
            </a:r>
            <a:r>
              <a:rPr lang="en-US" sz="2000" dirty="0">
                <a:latin typeface="Bookman Old Style" panose="02050604050505020204" pitchFamily="18" charset="0"/>
              </a:rPr>
              <a:t>Ultimately, EDA helps ensure that the product performs as intended by uncovering insights and identifying areas for improvement.</a:t>
            </a:r>
            <a:endParaRPr lang="en-IN" sz="2000" dirty="0">
              <a:latin typeface="Bookman Old Style" panose="02050604050505020204" pitchFamily="18" charset="0"/>
            </a:endParaRPr>
          </a:p>
          <a:p>
            <a:endParaRPr lang="en-US" dirty="0"/>
          </a:p>
        </p:txBody>
      </p:sp>
    </p:spTree>
    <p:extLst>
      <p:ext uri="{BB962C8B-B14F-4D97-AF65-F5344CB8AC3E}">
        <p14:creationId xmlns:p14="http://schemas.microsoft.com/office/powerpoint/2010/main" xmlns="" val="26069895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058946"/>
          </a:xfrm>
        </p:spPr>
        <p:txBody>
          <a:bodyPr>
            <a:normAutofit/>
          </a:bodyPr>
          <a:lstStyle/>
          <a:p>
            <a:pPr algn="ctr"/>
            <a:r>
              <a:rPr lang="en-IN" sz="4000" b="1" dirty="0" smtClean="0">
                <a:latin typeface="Bookman Old Style" panose="02050604050505020204" pitchFamily="18" charset="0"/>
              </a:rPr>
              <a:t>Data Science Process</a:t>
            </a:r>
            <a:endParaRPr lang="en-US" sz="4000" dirty="0"/>
          </a:p>
        </p:txBody>
      </p:sp>
      <p:pic>
        <p:nvPicPr>
          <p:cNvPr id="4" name="Picture 3">
            <a:extLst>
              <a:ext uri="{FF2B5EF4-FFF2-40B4-BE49-F238E27FC236}">
                <a16:creationId xmlns:a16="http://schemas.microsoft.com/office/drawing/2014/main" xmlns="" id="{71BCC146-488D-3A87-AF63-D029AD585A76}"/>
              </a:ext>
            </a:extLst>
          </p:cNvPr>
          <p:cNvPicPr>
            <a:picLocks noChangeAspect="1"/>
          </p:cNvPicPr>
          <p:nvPr/>
        </p:nvPicPr>
        <p:blipFill>
          <a:blip r:embed="rId2"/>
          <a:stretch>
            <a:fillRect/>
          </a:stretch>
        </p:blipFill>
        <p:spPr>
          <a:xfrm>
            <a:off x="1312986" y="1999457"/>
            <a:ext cx="9601195" cy="42948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smtClean="0">
                <a:solidFill>
                  <a:schemeClr val="tx1"/>
                </a:solidFill>
                <a:latin typeface="Bookman Old Style" panose="02050604050505020204" pitchFamily="18" charset="0"/>
              </a:rPr>
              <a:t>A Data Scientist’s Role in This Process</a:t>
            </a:r>
            <a:endParaRPr lang="en-US" sz="3200" dirty="0"/>
          </a:p>
        </p:txBody>
      </p:sp>
      <p:pic>
        <p:nvPicPr>
          <p:cNvPr id="4" name="Picture 3">
            <a:extLst>
              <a:ext uri="{FF2B5EF4-FFF2-40B4-BE49-F238E27FC236}">
                <a16:creationId xmlns="" xmlns:a16="http://schemas.microsoft.com/office/drawing/2014/main" id="{0E43C797-FF23-739E-9EF6-FBFC747006E6}"/>
              </a:ext>
            </a:extLst>
          </p:cNvPr>
          <p:cNvPicPr>
            <a:picLocks noChangeAspect="1"/>
          </p:cNvPicPr>
          <p:nvPr/>
        </p:nvPicPr>
        <p:blipFill>
          <a:blip r:embed="rId2"/>
          <a:stretch>
            <a:fillRect/>
          </a:stretch>
        </p:blipFill>
        <p:spPr>
          <a:xfrm>
            <a:off x="1537740" y="2177101"/>
            <a:ext cx="8758052" cy="379095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Thought Experiment: How Would You Simulate Chaos?</a:t>
            </a:r>
            <a:endParaRPr lang="en-US" dirty="0"/>
          </a:p>
        </p:txBody>
      </p:sp>
      <p:pic>
        <p:nvPicPr>
          <p:cNvPr id="1026" name="Picture 2" descr="The Malkus–Lorenz water wheel revisited"/>
          <p:cNvPicPr>
            <a:picLocks noChangeAspect="1" noChangeArrowheads="1"/>
          </p:cNvPicPr>
          <p:nvPr/>
        </p:nvPicPr>
        <p:blipFill>
          <a:blip r:embed="rId2"/>
          <a:srcRect/>
          <a:stretch>
            <a:fillRect/>
          </a:stretch>
        </p:blipFill>
        <p:spPr bwMode="auto">
          <a:xfrm>
            <a:off x="3646122" y="2169990"/>
            <a:ext cx="4257675" cy="4257675"/>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4128" y="589085"/>
            <a:ext cx="9720071" cy="5720275"/>
          </a:xfrm>
        </p:spPr>
        <p:txBody>
          <a:bodyPr/>
          <a:lstStyle/>
          <a:p>
            <a:pPr>
              <a:buFont typeface="Arial" pitchFamily="34" charset="0"/>
              <a:buChar char="•"/>
            </a:pPr>
            <a:r>
              <a:rPr lang="en-US" dirty="0" smtClean="0"/>
              <a:t>A </a:t>
            </a:r>
            <a:r>
              <a:rPr lang="en-US" dirty="0" err="1" smtClean="0"/>
              <a:t>Lorenzian</a:t>
            </a:r>
            <a:r>
              <a:rPr lang="en-US" dirty="0" smtClean="0"/>
              <a:t> water wheel, which is a Ferris wheel-type contraption with equally spaced buckets of water that rotate around in a circle. Now imagine water being dripped into the system at the very top. Each bucket has a leak, so some water escapes into whatever bucket is directly below the drip. Depending on the rate of the water coming in, this system exhibits a chaotic process that depends on molecular-level interactions of water molecules on the sides of the buckets.</a:t>
            </a:r>
          </a:p>
          <a:p>
            <a:pPr>
              <a:buFont typeface="Arial" pitchFamily="34" charset="0"/>
              <a:buChar char="•"/>
            </a:pPr>
            <a:r>
              <a:rPr lang="en-US" dirty="0" smtClean="0"/>
              <a:t>Many systems can exhibit inherent chaos. Philippe M. Binder and Roderick V. Jensen have written a paper entitled “Simulating chaotic behavior with finite-state machines”, which is about digital computer simulations of chaos.</a:t>
            </a:r>
          </a:p>
          <a:p>
            <a:pPr>
              <a:buFont typeface="Arial" pitchFamily="34" charset="0"/>
              <a:buChar char="•"/>
            </a:pPr>
            <a:r>
              <a:rPr lang="en-US" b="1" dirty="0" smtClean="0"/>
              <a:t>Humanitarian emergency simulation:</a:t>
            </a:r>
            <a:r>
              <a:rPr lang="en-US" dirty="0" smtClean="0"/>
              <a:t> Students simulate a crisis to learn how to create order and make decisions amid chaos.</a:t>
            </a:r>
          </a:p>
          <a:p>
            <a:pPr>
              <a:buFont typeface="Arial" pitchFamily="34" charset="0"/>
              <a:buChar char="•"/>
            </a:pPr>
            <a:endParaRPr lang="en-US" dirty="0" smtClean="0"/>
          </a:p>
          <a:p>
            <a:pPr>
              <a:buFont typeface="Arial" pitchFamily="34" charset="0"/>
              <a:buChar char="•"/>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Case Study: Real Direct</a:t>
            </a:r>
            <a:endParaRPr lang="en-US" dirty="0"/>
          </a:p>
        </p:txBody>
      </p:sp>
      <p:sp>
        <p:nvSpPr>
          <p:cNvPr id="3" name="Content Placeholder 2"/>
          <p:cNvSpPr>
            <a:spLocks noGrp="1"/>
          </p:cNvSpPr>
          <p:nvPr>
            <p:ph idx="1"/>
          </p:nvPr>
        </p:nvSpPr>
        <p:spPr/>
        <p:txBody>
          <a:bodyPr>
            <a:normAutofit/>
          </a:bodyPr>
          <a:lstStyle/>
          <a:p>
            <a:r>
              <a:rPr lang="en-US" b="1" dirty="0" smtClean="0"/>
              <a:t>Goal:</a:t>
            </a:r>
            <a:r>
              <a:rPr lang="en-US" dirty="0" smtClean="0"/>
              <a:t> Use real estate data to improve the process of buying and selling homes.</a:t>
            </a:r>
          </a:p>
          <a:p>
            <a:r>
              <a:rPr lang="en-US" b="1" dirty="0" smtClean="0"/>
              <a:t>Problem 1 – Broker system:</a:t>
            </a:r>
            <a:endParaRPr lang="en-US" dirty="0" smtClean="0"/>
          </a:p>
          <a:p>
            <a:pPr lvl="1"/>
            <a:r>
              <a:rPr lang="en-US" dirty="0" smtClean="0"/>
              <a:t>Brokers usually work independently.</a:t>
            </a:r>
          </a:p>
          <a:p>
            <a:pPr lvl="1"/>
            <a:r>
              <a:rPr lang="en-US" dirty="0" smtClean="0"/>
              <a:t>Valuable knowledge is scattered among individual brokers.</a:t>
            </a:r>
          </a:p>
          <a:p>
            <a:pPr lvl="1"/>
            <a:r>
              <a:rPr lang="en-US" dirty="0" err="1" smtClean="0"/>
              <a:t>RealDirect</a:t>
            </a:r>
            <a:r>
              <a:rPr lang="en-US" dirty="0" smtClean="0"/>
              <a:t> brings licensed agents together to </a:t>
            </a:r>
            <a:r>
              <a:rPr lang="en-US" b="1" dirty="0" smtClean="0"/>
              <a:t>share knowledge</a:t>
            </a:r>
            <a:r>
              <a:rPr lang="en-US" dirty="0" smtClean="0"/>
              <a:t>.</a:t>
            </a:r>
          </a:p>
          <a:p>
            <a:r>
              <a:rPr lang="en-US" b="1" dirty="0" smtClean="0"/>
              <a:t>Problem 2 – Outdated data:</a:t>
            </a:r>
            <a:endParaRPr lang="en-US" dirty="0" smtClean="0"/>
          </a:p>
          <a:p>
            <a:pPr lvl="1"/>
            <a:r>
              <a:rPr lang="en-US" dirty="0" smtClean="0"/>
              <a:t>Public real estate data can have a </a:t>
            </a:r>
            <a:r>
              <a:rPr lang="en-US" b="1" dirty="0" smtClean="0"/>
              <a:t>3-month delay</a:t>
            </a:r>
            <a:r>
              <a:rPr lang="en-US" dirty="0" smtClean="0"/>
              <a:t>.</a:t>
            </a:r>
          </a:p>
          <a:p>
            <a:pPr lvl="1"/>
            <a:r>
              <a:rPr lang="en-US" dirty="0" smtClean="0"/>
              <a:t>Decisions may therefore be based on old information.</a:t>
            </a:r>
          </a:p>
          <a:p>
            <a:r>
              <a:rPr lang="en-US" b="1" dirty="0" smtClean="0"/>
              <a:t>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4128" y="756138"/>
            <a:ext cx="9720071" cy="5553222"/>
          </a:xfrm>
        </p:spPr>
        <p:txBody>
          <a:bodyPr/>
          <a:lstStyle/>
          <a:p>
            <a:r>
              <a:rPr lang="en-US" b="1" dirty="0" smtClean="0"/>
              <a:t>How </a:t>
            </a:r>
            <a:r>
              <a:rPr lang="en-US" b="1" dirty="0" err="1" smtClean="0"/>
              <a:t>RealDirect</a:t>
            </a:r>
            <a:r>
              <a:rPr lang="en-US" b="1" dirty="0" smtClean="0"/>
              <a:t> Uses Data</a:t>
            </a:r>
          </a:p>
          <a:p>
            <a:pPr>
              <a:buFont typeface="Arial" pitchFamily="34" charset="0"/>
              <a:buChar char="•"/>
            </a:pPr>
            <a:r>
              <a:rPr lang="en-US" dirty="0" smtClean="0"/>
              <a:t>Collects data from </a:t>
            </a:r>
            <a:r>
              <a:rPr lang="en-US" b="1" dirty="0" smtClean="0"/>
              <a:t>public and new information sources</a:t>
            </a:r>
            <a:r>
              <a:rPr lang="en-US" dirty="0" smtClean="0"/>
              <a:t>.</a:t>
            </a:r>
          </a:p>
          <a:p>
            <a:pPr>
              <a:buFont typeface="Arial" pitchFamily="34" charset="0"/>
              <a:buChar char="•"/>
            </a:pPr>
            <a:r>
              <a:rPr lang="en-US" dirty="0" smtClean="0"/>
              <a:t>Tracks </a:t>
            </a:r>
            <a:r>
              <a:rPr lang="en-US" b="1" dirty="0" smtClean="0"/>
              <a:t>home searches and online behavior</a:t>
            </a:r>
            <a:r>
              <a:rPr lang="en-US" dirty="0" smtClean="0"/>
              <a:t>.</a:t>
            </a:r>
          </a:p>
          <a:p>
            <a:pPr>
              <a:buFont typeface="Arial" pitchFamily="34" charset="0"/>
              <a:buChar char="•"/>
            </a:pPr>
            <a:r>
              <a:rPr lang="en-US" dirty="0" smtClean="0"/>
              <a:t>Looks at </a:t>
            </a:r>
            <a:r>
              <a:rPr lang="en-US" b="1" dirty="0" smtClean="0"/>
              <a:t>initial offers</a:t>
            </a:r>
            <a:r>
              <a:rPr lang="en-US" dirty="0" smtClean="0"/>
              <a:t>.</a:t>
            </a:r>
          </a:p>
          <a:p>
            <a:pPr>
              <a:buFont typeface="Arial" pitchFamily="34" charset="0"/>
              <a:buChar char="•"/>
            </a:pPr>
            <a:r>
              <a:rPr lang="en-US" dirty="0" smtClean="0"/>
              <a:t>Tracks </a:t>
            </a:r>
            <a:r>
              <a:rPr lang="en-US" b="1" dirty="0" smtClean="0"/>
              <a:t>time between offer and closing</a:t>
            </a:r>
            <a:r>
              <a:rPr lang="en-US" dirty="0" smtClean="0"/>
              <a:t>.</a:t>
            </a:r>
          </a:p>
          <a:p>
            <a:pPr>
              <a:buFont typeface="Arial" pitchFamily="34" charset="0"/>
              <a:buChar char="•"/>
            </a:pPr>
            <a:r>
              <a:rPr lang="en-US" dirty="0" smtClean="0"/>
              <a:t>Uses interaction data to provide </a:t>
            </a:r>
            <a:r>
              <a:rPr lang="en-US" b="1" dirty="0" smtClean="0"/>
              <a:t>real-time recommendations</a:t>
            </a:r>
            <a:r>
              <a:rPr lang="en-US" dirty="0" smtClean="0"/>
              <a:t>.</a:t>
            </a:r>
          </a:p>
          <a:p>
            <a:pPr>
              <a:buFont typeface="Arial" pitchFamily="34" charset="0"/>
              <a:buChar char="•"/>
            </a:pPr>
            <a:r>
              <a:rPr lang="en-US" dirty="0" smtClean="0"/>
              <a:t>Gives sellers </a:t>
            </a:r>
            <a:r>
              <a:rPr lang="en-US" b="1" dirty="0" smtClean="0"/>
              <a:t>data-driven tips</a:t>
            </a:r>
            <a:r>
              <a:rPr lang="en-US" dirty="0" smtClean="0"/>
              <a:t>.</a:t>
            </a:r>
          </a:p>
          <a:p>
            <a:pPr>
              <a:buFont typeface="Arial" pitchFamily="34" charset="0"/>
              <a:buChar char="•"/>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4128" y="465992"/>
            <a:ext cx="9720071" cy="5843368"/>
          </a:xfrm>
        </p:spPr>
        <p:txBody>
          <a:bodyPr>
            <a:normAutofit/>
          </a:bodyPr>
          <a:lstStyle/>
          <a:p>
            <a:r>
              <a:rPr lang="en-US" b="1" dirty="0" err="1" smtClean="0"/>
              <a:t>RealDirect</a:t>
            </a:r>
            <a:r>
              <a:rPr lang="en-US" b="1" dirty="0" smtClean="0"/>
              <a:t> as a Data-Driven Platform</a:t>
            </a:r>
          </a:p>
          <a:p>
            <a:r>
              <a:rPr lang="en-US" dirty="0" smtClean="0"/>
              <a:t>Acts as a </a:t>
            </a:r>
            <a:r>
              <a:rPr lang="en-US" b="1" dirty="0" smtClean="0"/>
              <a:t>platform for buyers and sellers</a:t>
            </a:r>
            <a:r>
              <a:rPr lang="en-US" dirty="0" smtClean="0"/>
              <a:t>.</a:t>
            </a:r>
          </a:p>
          <a:p>
            <a:r>
              <a:rPr lang="en-US" dirty="0" smtClean="0"/>
              <a:t>Tracks the user's current status:</a:t>
            </a:r>
          </a:p>
          <a:p>
            <a:pPr lvl="1"/>
            <a:r>
              <a:rPr lang="en-US" dirty="0" smtClean="0"/>
              <a:t>Active</a:t>
            </a:r>
          </a:p>
          <a:p>
            <a:pPr lvl="1"/>
            <a:r>
              <a:rPr lang="en-US" dirty="0" smtClean="0"/>
              <a:t>Offer made</a:t>
            </a:r>
          </a:p>
          <a:p>
            <a:pPr lvl="1"/>
            <a:r>
              <a:rPr lang="en-US" dirty="0" smtClean="0"/>
              <a:t>Offer rejected</a:t>
            </a:r>
          </a:p>
          <a:p>
            <a:pPr lvl="1"/>
            <a:r>
              <a:rPr lang="en-US" dirty="0" smtClean="0"/>
              <a:t>Showing</a:t>
            </a:r>
          </a:p>
          <a:p>
            <a:pPr lvl="1"/>
            <a:r>
              <a:rPr lang="en-US" dirty="0" smtClean="0"/>
              <a:t>In contract</a:t>
            </a:r>
          </a:p>
          <a:p>
            <a:r>
              <a:rPr lang="en-US" dirty="0" smtClean="0"/>
              <a:t>The software suggests </a:t>
            </a:r>
            <a:r>
              <a:rPr lang="en-US" b="1" dirty="0" smtClean="0"/>
              <a:t>different actions based on the user's status</a:t>
            </a:r>
            <a:r>
              <a:rPr lang="en-US" dirty="0" smtClean="0"/>
              <a:t>.</a:t>
            </a:r>
          </a:p>
          <a:p>
            <a:r>
              <a:rPr lang="en-US" dirty="0" smtClean="0"/>
              <a:t>This makes the process more </a:t>
            </a:r>
            <a:r>
              <a:rPr lang="en-US" b="1" dirty="0" smtClean="0"/>
              <a:t>organized and data-driven</a:t>
            </a:r>
            <a:r>
              <a:rPr lang="en-US" dirty="0" smtClean="0"/>
              <a:t>.</a:t>
            </a:r>
          </a:p>
          <a:p>
            <a:endParaRPr lang="en-US" dirty="0" smtClean="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4128" y="562708"/>
            <a:ext cx="9720071" cy="5746652"/>
          </a:xfrm>
        </p:spPr>
        <p:txBody>
          <a:bodyPr>
            <a:normAutofit/>
          </a:bodyPr>
          <a:lstStyle/>
          <a:p>
            <a:r>
              <a:rPr lang="en-US" b="1" dirty="0" smtClean="0"/>
              <a:t>How Does </a:t>
            </a:r>
            <a:r>
              <a:rPr lang="en-US" b="1" dirty="0" err="1" smtClean="0"/>
              <a:t>RealDirect</a:t>
            </a:r>
            <a:r>
              <a:rPr lang="en-US" b="1" dirty="0" smtClean="0"/>
              <a:t> Make Money?</a:t>
            </a:r>
          </a:p>
          <a:p>
            <a:pPr>
              <a:buFont typeface="Arial" pitchFamily="34" charset="0"/>
              <a:buChar char="•"/>
            </a:pPr>
            <a:r>
              <a:rPr lang="en-US" b="1" dirty="0" smtClean="0"/>
              <a:t>Seller subscription:</a:t>
            </a:r>
            <a:r>
              <a:rPr lang="en-US" dirty="0" smtClean="0"/>
              <a:t> About </a:t>
            </a:r>
            <a:r>
              <a:rPr lang="en-US" b="1" dirty="0" smtClean="0"/>
              <a:t>$395/month</a:t>
            </a:r>
            <a:r>
              <a:rPr lang="en-US" dirty="0" smtClean="0"/>
              <a:t> for access to selling tools.</a:t>
            </a:r>
          </a:p>
          <a:p>
            <a:pPr>
              <a:buFont typeface="Arial" pitchFamily="34" charset="0"/>
              <a:buChar char="•"/>
            </a:pPr>
            <a:r>
              <a:rPr lang="en-US" b="1" dirty="0" smtClean="0"/>
              <a:t>Reduced commission:</a:t>
            </a:r>
            <a:r>
              <a:rPr lang="en-US" dirty="0" smtClean="0"/>
              <a:t> Sellers can use </a:t>
            </a:r>
            <a:r>
              <a:rPr lang="en-US" dirty="0" err="1" smtClean="0"/>
              <a:t>RealDirect</a:t>
            </a:r>
            <a:r>
              <a:rPr lang="en-US" dirty="0" smtClean="0"/>
              <a:t> agents at around </a:t>
            </a:r>
            <a:r>
              <a:rPr lang="en-US" b="1" dirty="0" smtClean="0"/>
              <a:t>2% commission</a:t>
            </a:r>
            <a:r>
              <a:rPr lang="en-US" dirty="0" smtClean="0"/>
              <a:t>.</a:t>
            </a:r>
          </a:p>
          <a:p>
            <a:pPr>
              <a:buFont typeface="Arial" pitchFamily="34" charset="0"/>
              <a:buChar char="•"/>
            </a:pPr>
            <a:r>
              <a:rPr lang="en-US" dirty="0" smtClean="0"/>
              <a:t>Traditional commission mentioned in the text: </a:t>
            </a:r>
            <a:r>
              <a:rPr lang="en-US" b="1" dirty="0" smtClean="0"/>
              <a:t>2.5%–3%</a:t>
            </a:r>
            <a:r>
              <a:rPr lang="en-US" dirty="0" smtClean="0"/>
              <a:t>.</a:t>
            </a:r>
          </a:p>
          <a:p>
            <a:pPr>
              <a:buFont typeface="Arial" pitchFamily="34" charset="0"/>
              <a:buChar char="•"/>
            </a:pPr>
            <a:r>
              <a:rPr lang="en-US" b="1" dirty="0" smtClean="0"/>
              <a:t>Data pooling</a:t>
            </a:r>
            <a:r>
              <a:rPr lang="en-US" dirty="0" smtClean="0"/>
              <a:t> helps </a:t>
            </a:r>
            <a:r>
              <a:rPr lang="en-US" dirty="0" err="1" smtClean="0"/>
              <a:t>RealDirect</a:t>
            </a:r>
            <a:r>
              <a:rPr lang="en-US" dirty="0" smtClean="0"/>
              <a:t> operate more efficiently.</a:t>
            </a:r>
          </a:p>
          <a:p>
            <a:pPr>
              <a:buFont typeface="Arial" pitchFamily="34" charset="0"/>
              <a:buChar char="•"/>
            </a:pPr>
            <a:r>
              <a:rPr lang="en-US" dirty="0" smtClean="0"/>
              <a:t>Lower commission can be supported by handling </a:t>
            </a:r>
            <a:r>
              <a:rPr lang="en-US" b="1" dirty="0" smtClean="0"/>
              <a:t>more sales volume</a:t>
            </a:r>
            <a:r>
              <a:rPr lang="en-US" dirty="0" smtClean="0"/>
              <a:t>.</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4128" y="835269"/>
            <a:ext cx="9720071" cy="5474091"/>
          </a:xfrm>
        </p:spPr>
        <p:txBody>
          <a:bodyPr/>
          <a:lstStyle/>
          <a:p>
            <a:r>
              <a:rPr lang="en-US" b="1" dirty="0" smtClean="0"/>
              <a:t>Challenges:</a:t>
            </a:r>
            <a:endParaRPr lang="en-US" dirty="0" smtClean="0"/>
          </a:p>
          <a:p>
            <a:pPr>
              <a:buFont typeface="Arial" pitchFamily="34" charset="0"/>
              <a:buChar char="•"/>
            </a:pPr>
            <a:r>
              <a:rPr lang="en-US" dirty="0" smtClean="0"/>
              <a:t>New York law requires registration to access all current listings.</a:t>
            </a:r>
          </a:p>
          <a:p>
            <a:pPr>
              <a:buFont typeface="Arial" pitchFamily="34" charset="0"/>
              <a:buChar char="•"/>
            </a:pPr>
            <a:r>
              <a:rPr lang="en-US" dirty="0" smtClean="0"/>
              <a:t>Some traditional realtors disliked </a:t>
            </a:r>
            <a:r>
              <a:rPr lang="en-US" dirty="0" err="1" smtClean="0"/>
              <a:t>RealDirect's</a:t>
            </a:r>
            <a:r>
              <a:rPr lang="en-US" dirty="0" smtClean="0"/>
              <a:t> lower-commission approach.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Machine Learning Algorithms</a:t>
            </a:r>
            <a:endParaRPr lang="en-US" dirty="0"/>
          </a:p>
        </p:txBody>
      </p:sp>
      <p:sp>
        <p:nvSpPr>
          <p:cNvPr id="3" name="Content Placeholder 2"/>
          <p:cNvSpPr>
            <a:spLocks noGrp="1"/>
          </p:cNvSpPr>
          <p:nvPr>
            <p:ph idx="1"/>
          </p:nvPr>
        </p:nvSpPr>
        <p:spPr/>
        <p:txBody>
          <a:bodyPr/>
          <a:lstStyle/>
          <a:p>
            <a:pPr>
              <a:buFont typeface="Arial" pitchFamily="34" charset="0"/>
              <a:buChar char="•"/>
            </a:pPr>
            <a:r>
              <a:rPr lang="en-US" dirty="0" smtClean="0"/>
              <a:t>Machine learning algorithms are largely used to: </a:t>
            </a:r>
          </a:p>
          <a:p>
            <a:pPr>
              <a:buFont typeface="Arial" pitchFamily="34" charset="0"/>
              <a:buChar char="•"/>
            </a:pPr>
            <a:r>
              <a:rPr lang="en-US" b="1" dirty="0" smtClean="0"/>
              <a:t>Predict</a:t>
            </a:r>
            <a:r>
              <a:rPr lang="en-US" dirty="0" smtClean="0"/>
              <a:t> </a:t>
            </a:r>
          </a:p>
          <a:p>
            <a:pPr>
              <a:buFont typeface="Arial" pitchFamily="34" charset="0"/>
              <a:buChar char="•"/>
            </a:pPr>
            <a:r>
              <a:rPr lang="en-US" b="1" dirty="0" smtClean="0"/>
              <a:t>Classify</a:t>
            </a:r>
            <a:r>
              <a:rPr lang="en-US" dirty="0" smtClean="0"/>
              <a:t> </a:t>
            </a:r>
          </a:p>
          <a:p>
            <a:pPr>
              <a:buFont typeface="Arial" pitchFamily="34" charset="0"/>
              <a:buChar char="•"/>
            </a:pPr>
            <a:r>
              <a:rPr lang="en-US" b="1" dirty="0" smtClean="0"/>
              <a:t>Cluster</a:t>
            </a:r>
            <a:r>
              <a:rPr lang="en-US" dirty="0" smtClean="0"/>
              <a:t> </a:t>
            </a:r>
          </a:p>
          <a:p>
            <a:pPr>
              <a:buFont typeface="Arial" pitchFamily="34" charset="0"/>
              <a:buChar char="•"/>
            </a:pPr>
            <a:r>
              <a:rPr lang="en-US" dirty="0" smtClean="0"/>
              <a:t>Statistical modeling and machine learning have some overlap.</a:t>
            </a:r>
          </a:p>
          <a:p>
            <a:pPr>
              <a:buFont typeface="Arial" pitchFamily="34" charset="0"/>
              <a:buChar char="•"/>
            </a:pPr>
            <a:r>
              <a:rPr lang="en-US" dirty="0" smtClean="0"/>
              <a:t>Some methods, such as </a:t>
            </a:r>
            <a:r>
              <a:rPr lang="en-US" b="1" dirty="0" smtClean="0"/>
              <a:t>linear regression</a:t>
            </a:r>
            <a:r>
              <a:rPr lang="en-US" dirty="0" smtClean="0"/>
              <a:t>, are used in both statistics and machine learning.</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023776"/>
          </a:xfrm>
        </p:spPr>
        <p:txBody>
          <a:bodyPr>
            <a:normAutofit fontScale="90000"/>
          </a:bodyPr>
          <a:lstStyle/>
          <a:p>
            <a:pPr algn="ctr"/>
            <a:r>
              <a:rPr lang="en-US" b="1" dirty="0" smtClean="0"/>
              <a:t>Statistics and Machine Learning</a:t>
            </a:r>
            <a:br>
              <a:rPr lang="en-US" b="1" dirty="0" smtClean="0"/>
            </a:br>
            <a:endParaRPr lang="en-US" dirty="0"/>
          </a:p>
        </p:txBody>
      </p:sp>
      <p:sp>
        <p:nvSpPr>
          <p:cNvPr id="3" name="Content Placeholder 2"/>
          <p:cNvSpPr>
            <a:spLocks noGrp="1"/>
          </p:cNvSpPr>
          <p:nvPr>
            <p:ph idx="1"/>
          </p:nvPr>
        </p:nvSpPr>
        <p:spPr>
          <a:xfrm>
            <a:off x="1024128" y="1556238"/>
            <a:ext cx="9720071" cy="4753122"/>
          </a:xfrm>
        </p:spPr>
        <p:txBody>
          <a:bodyPr>
            <a:normAutofit/>
          </a:bodyPr>
          <a:lstStyle/>
          <a:p>
            <a:r>
              <a:rPr lang="en-US" b="1" dirty="0" smtClean="0"/>
              <a:t>Statistical Modeling</a:t>
            </a:r>
            <a:endParaRPr lang="en-US" dirty="0" smtClean="0"/>
          </a:p>
          <a:p>
            <a:pPr>
              <a:buFont typeface="Arial" pitchFamily="34" charset="0"/>
              <a:buChar char="•"/>
            </a:pPr>
            <a:r>
              <a:rPr lang="en-US" dirty="0" smtClean="0"/>
              <a:t>Focuses on understanding relationships </a:t>
            </a:r>
          </a:p>
          <a:p>
            <a:pPr>
              <a:buFont typeface="Arial" pitchFamily="34" charset="0"/>
              <a:buChar char="•"/>
            </a:pPr>
            <a:r>
              <a:rPr lang="en-US" dirty="0" smtClean="0"/>
              <a:t>Interprets model parameters </a:t>
            </a:r>
          </a:p>
          <a:p>
            <a:pPr>
              <a:buFont typeface="Arial" pitchFamily="34" charset="0"/>
              <a:buChar char="•"/>
            </a:pPr>
            <a:r>
              <a:rPr lang="en-US" dirty="0" smtClean="0"/>
              <a:t>Studies uncertainty </a:t>
            </a:r>
          </a:p>
          <a:p>
            <a:pPr>
              <a:buFont typeface="Arial" pitchFamily="34" charset="0"/>
              <a:buChar char="•"/>
            </a:pPr>
            <a:r>
              <a:rPr lang="en-US" dirty="0" smtClean="0"/>
              <a:t>Makes explicit assumptions about data </a:t>
            </a:r>
          </a:p>
          <a:p>
            <a:r>
              <a:rPr lang="en-US" b="1" dirty="0" smtClean="0"/>
              <a:t>Machine Learning</a:t>
            </a:r>
            <a:endParaRPr lang="en-US" dirty="0" smtClean="0"/>
          </a:p>
          <a:p>
            <a:pPr>
              <a:buFont typeface="Arial" pitchFamily="34" charset="0"/>
              <a:buChar char="•"/>
            </a:pPr>
            <a:r>
              <a:rPr lang="en-US" dirty="0" smtClean="0"/>
              <a:t>Often focuses on prediction and classification </a:t>
            </a:r>
          </a:p>
          <a:p>
            <a:pPr>
              <a:buFont typeface="Arial" pitchFamily="34" charset="0"/>
              <a:buChar char="•"/>
            </a:pPr>
            <a:r>
              <a:rPr lang="en-US" dirty="0" smtClean="0"/>
              <a:t>Focuses on predictive accuracy </a:t>
            </a:r>
          </a:p>
          <a:p>
            <a:pPr>
              <a:buFont typeface="Arial" pitchFamily="34" charset="0"/>
              <a:buChar char="•"/>
            </a:pPr>
            <a:r>
              <a:rPr lang="en-US" dirty="0" smtClean="0"/>
              <a:t>Many algorithms do not directly provide confidence intervals </a:t>
            </a:r>
          </a:p>
          <a:p>
            <a:pPr>
              <a:buFont typeface="Arial" pitchFamily="34" charset="0"/>
              <a:buChar char="•"/>
            </a:pPr>
            <a:r>
              <a:rPr lang="en-US" dirty="0" smtClean="0"/>
              <a:t>Some methods make few or no distributional assumptions</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4997" y="1042416"/>
            <a:ext cx="9720072" cy="1050153"/>
          </a:xfrm>
        </p:spPr>
        <p:txBody>
          <a:bodyPr>
            <a:normAutofit fontScale="90000"/>
          </a:bodyPr>
          <a:lstStyle/>
          <a:p>
            <a:pPr algn="ctr"/>
            <a:r>
              <a:rPr lang="en-US" b="1" dirty="0" smtClean="0"/>
              <a:t>Linear Regression</a:t>
            </a:r>
            <a:br>
              <a:rPr lang="en-US" b="1" dirty="0" smtClean="0"/>
            </a:br>
            <a:endParaRPr lang="en-US" dirty="0"/>
          </a:p>
        </p:txBody>
      </p:sp>
      <p:sp>
        <p:nvSpPr>
          <p:cNvPr id="3" name="Content Placeholder 2"/>
          <p:cNvSpPr>
            <a:spLocks noGrp="1"/>
          </p:cNvSpPr>
          <p:nvPr>
            <p:ph idx="1"/>
          </p:nvPr>
        </p:nvSpPr>
        <p:spPr/>
        <p:txBody>
          <a:bodyPr/>
          <a:lstStyle/>
          <a:p>
            <a:pPr>
              <a:buFont typeface="Arial" pitchFamily="34" charset="0"/>
              <a:buChar char="•"/>
            </a:pPr>
            <a:r>
              <a:rPr lang="en-US" b="1" dirty="0" smtClean="0"/>
              <a:t>Linear regression</a:t>
            </a:r>
            <a:r>
              <a:rPr lang="en-US" dirty="0" smtClean="0"/>
              <a:t> is one of the most common statistical methods.</a:t>
            </a:r>
          </a:p>
          <a:p>
            <a:pPr>
              <a:buFont typeface="Arial" pitchFamily="34" charset="0"/>
              <a:buChar char="•"/>
            </a:pPr>
            <a:r>
              <a:rPr lang="en-US" dirty="0" smtClean="0"/>
              <a:t>It is used to:</a:t>
            </a:r>
          </a:p>
          <a:p>
            <a:pPr>
              <a:buFont typeface="Arial" pitchFamily="34" charset="0"/>
              <a:buChar char="•"/>
            </a:pPr>
            <a:r>
              <a:rPr lang="en-US" dirty="0" smtClean="0"/>
              <a:t>Express the mathematical relationship between variables </a:t>
            </a:r>
          </a:p>
          <a:p>
            <a:pPr>
              <a:buFont typeface="Arial" pitchFamily="34" charset="0"/>
              <a:buChar char="•"/>
            </a:pPr>
            <a:r>
              <a:rPr lang="en-US" dirty="0" smtClean="0"/>
              <a:t>Predict numerical outcomes </a:t>
            </a:r>
          </a:p>
          <a:p>
            <a:pPr>
              <a:buFont typeface="Arial" pitchFamily="34" charset="0"/>
              <a:buChar char="•"/>
            </a:pPr>
            <a:r>
              <a:rPr lang="en-US" dirty="0" smtClean="0"/>
              <a:t>Understand or describe relationships </a:t>
            </a:r>
          </a:p>
          <a:p>
            <a:pPr>
              <a:buFont typeface="Arial" pitchFamily="34" charset="0"/>
              <a:buChar char="•"/>
            </a:pPr>
            <a:r>
              <a:rPr lang="en-US" dirty="0" smtClean="0"/>
              <a:t>It assumes a </a:t>
            </a:r>
            <a:r>
              <a:rPr lang="en-US" b="1" dirty="0" smtClean="0"/>
              <a:t>linear relationship</a:t>
            </a:r>
            <a:r>
              <a:rPr lang="en-US" dirty="0" smtClean="0"/>
              <a:t> between variables.</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38428" y="905608"/>
            <a:ext cx="9720071" cy="4023360"/>
          </a:xfrm>
        </p:spPr>
        <p:txBody>
          <a:bodyPr/>
          <a:lstStyle/>
          <a:p>
            <a:r>
              <a:rPr lang="en-US" dirty="0" smtClean="0"/>
              <a:t>The basic linear model is:</a:t>
            </a:r>
          </a:p>
          <a:p>
            <a:endParaRPr lang="en-US" dirty="0" smtClean="0"/>
          </a:p>
          <a:p>
            <a:r>
              <a:rPr lang="en-US" dirty="0" smtClean="0"/>
              <a:t>Where:</a:t>
            </a:r>
          </a:p>
          <a:p>
            <a:r>
              <a:rPr lang="en-US" dirty="0" smtClean="0"/>
              <a:t>y → outcome </a:t>
            </a:r>
          </a:p>
          <a:p>
            <a:r>
              <a:rPr lang="en-US" dirty="0" smtClean="0"/>
              <a:t>x → predictor </a:t>
            </a:r>
          </a:p>
          <a:p>
            <a:r>
              <a:rPr lang="el-GR" dirty="0" smtClean="0"/>
              <a:t>β</a:t>
            </a:r>
            <a:r>
              <a:rPr lang="el-GR" baseline="-25000" dirty="0" smtClean="0"/>
              <a:t>0</a:t>
            </a:r>
            <a:r>
              <a:rPr lang="en-US" dirty="0" smtClean="0"/>
              <a:t>→ intercept </a:t>
            </a:r>
          </a:p>
          <a:p>
            <a:r>
              <a:rPr lang="el-GR" dirty="0" smtClean="0"/>
              <a:t>β</a:t>
            </a:r>
            <a:r>
              <a:rPr lang="el-GR" baseline="-25000" dirty="0" smtClean="0"/>
              <a:t>1</a:t>
            </a:r>
            <a:r>
              <a:rPr lang="en-US" dirty="0" smtClean="0"/>
              <a:t>→ slope</a:t>
            </a:r>
          </a:p>
          <a:p>
            <a:endParaRPr lang="en-US" dirty="0"/>
          </a:p>
        </p:txBody>
      </p:sp>
      <p:sp>
        <p:nvSpPr>
          <p:cNvPr id="8" name="Rectangle 7"/>
          <p:cNvSpPr/>
          <p:nvPr/>
        </p:nvSpPr>
        <p:spPr>
          <a:xfrm>
            <a:off x="4915029" y="1556210"/>
            <a:ext cx="1740747" cy="461665"/>
          </a:xfrm>
          <a:prstGeom prst="rect">
            <a:avLst/>
          </a:prstGeom>
        </p:spPr>
        <p:txBody>
          <a:bodyPr wrap="square">
            <a:spAutoFit/>
          </a:bodyPr>
          <a:lstStyle/>
          <a:p>
            <a:r>
              <a:rPr lang="en-US" sz="2400" i="1" dirty="0" smtClean="0">
                <a:latin typeface="Times New Roman" panose="02020603050405020304" pitchFamily="18" charset="0"/>
                <a:cs typeface="Times New Roman" panose="02020603050405020304" pitchFamily="18" charset="0"/>
              </a:rPr>
              <a:t> y </a:t>
            </a:r>
            <a:r>
              <a:rPr lang="en-US" sz="2400" dirty="0" smtClean="0">
                <a:latin typeface="Times New Roman" panose="02020603050405020304" pitchFamily="18" charset="0"/>
                <a:cs typeface="Times New Roman" panose="02020603050405020304" pitchFamily="18" charset="0"/>
              </a:rPr>
              <a:t>= </a:t>
            </a:r>
            <a:r>
              <a:rPr lang="el-GR" sz="2400" i="1" dirty="0" smtClean="0">
                <a:latin typeface="Times New Roman" panose="02020603050405020304" pitchFamily="18" charset="0"/>
                <a:cs typeface="Times New Roman" panose="02020603050405020304" pitchFamily="18" charset="0"/>
              </a:rPr>
              <a:t>β</a:t>
            </a:r>
            <a:r>
              <a:rPr lang="el-GR" sz="2400" baseline="-25000" dirty="0" smtClean="0">
                <a:latin typeface="Times New Roman" panose="02020603050405020304" pitchFamily="18" charset="0"/>
                <a:cs typeface="Times New Roman" panose="02020603050405020304" pitchFamily="18" charset="0"/>
              </a:rPr>
              <a:t>0</a:t>
            </a:r>
            <a:r>
              <a:rPr lang="el-GR" sz="2400" dirty="0" smtClean="0">
                <a:latin typeface="Times New Roman" panose="02020603050405020304" pitchFamily="18" charset="0"/>
                <a:cs typeface="Times New Roman" panose="02020603050405020304" pitchFamily="18" charset="0"/>
              </a:rPr>
              <a:t> +</a:t>
            </a:r>
            <a:r>
              <a:rPr lang="el-GR" sz="2400" i="1" dirty="0" smtClean="0">
                <a:latin typeface="Times New Roman" panose="02020603050405020304" pitchFamily="18" charset="0"/>
                <a:cs typeface="Times New Roman" panose="02020603050405020304" pitchFamily="18" charset="0"/>
              </a:rPr>
              <a:t>β</a:t>
            </a:r>
            <a:r>
              <a:rPr lang="el-GR" sz="2400" baseline="-25000" dirty="0" smtClean="0">
                <a:latin typeface="Times New Roman" panose="02020603050405020304" pitchFamily="18" charset="0"/>
                <a:cs typeface="Times New Roman" panose="02020603050405020304" pitchFamily="18" charset="0"/>
              </a:rPr>
              <a:t>1</a:t>
            </a:r>
            <a:r>
              <a:rPr lang="en-US" sz="2400" i="1" dirty="0" smtClean="0">
                <a:latin typeface="Times New Roman" panose="02020603050405020304" pitchFamily="18" charset="0"/>
                <a:cs typeface="Times New Roman" panose="02020603050405020304" pitchFamily="18" charset="0"/>
              </a:rPr>
              <a:t>x</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4128" y="764931"/>
            <a:ext cx="9720071" cy="5544429"/>
          </a:xfrm>
        </p:spPr>
        <p:txBody>
          <a:bodyPr/>
          <a:lstStyle/>
          <a:p>
            <a:pPr algn="just"/>
            <a:r>
              <a:rPr lang="en-US" b="1" dirty="0" smtClean="0"/>
              <a:t>Example 1. </a:t>
            </a:r>
            <a:r>
              <a:rPr lang="en-US" dirty="0" smtClean="0"/>
              <a:t>Suppose you run a social networking site that charges a monthly subscription fee of $25, and that this is your only source of revenue. Each month you collect data and count your number of users and total revenue. You’ve done this daily over the course of two years, recording it all in a spreadsheet.</a:t>
            </a:r>
          </a:p>
          <a:p>
            <a:r>
              <a:rPr lang="es-ES" i="1" dirty="0" smtClean="0">
                <a:latin typeface="Bookman Old Style" panose="02050604050505020204" pitchFamily="18" charset="0"/>
              </a:rPr>
              <a:t>S</a:t>
            </a:r>
            <a:r>
              <a:rPr lang="es-ES" dirty="0" smtClean="0">
                <a:latin typeface="Bookman Old Style" panose="02050604050505020204" pitchFamily="18" charset="0"/>
              </a:rPr>
              <a:t>= {(</a:t>
            </a:r>
            <a:r>
              <a:rPr lang="es-ES" i="1" dirty="0" smtClean="0">
                <a:latin typeface="Bookman Old Style" panose="02050604050505020204" pitchFamily="18" charset="0"/>
              </a:rPr>
              <a:t>x</a:t>
            </a:r>
            <a:r>
              <a:rPr lang="es-ES" dirty="0" smtClean="0">
                <a:latin typeface="Bookman Old Style" panose="02050604050505020204" pitchFamily="18" charset="0"/>
              </a:rPr>
              <a:t>, </a:t>
            </a:r>
            <a:r>
              <a:rPr lang="es-ES" i="1" dirty="0" smtClean="0">
                <a:latin typeface="Bookman Old Style" panose="02050604050505020204" pitchFamily="18" charset="0"/>
              </a:rPr>
              <a:t>y) </a:t>
            </a:r>
            <a:r>
              <a:rPr lang="es-ES" dirty="0" smtClean="0">
                <a:latin typeface="Bookman Old Style" panose="02050604050505020204" pitchFamily="18" charset="0"/>
              </a:rPr>
              <a:t>= (1,25) , (10,250) , (100,2500) ,(200,5000)}</a:t>
            </a:r>
          </a:p>
          <a:p>
            <a:r>
              <a:rPr lang="en-US" dirty="0" smtClean="0"/>
              <a:t>• There’s a linear pattern.</a:t>
            </a:r>
          </a:p>
          <a:p>
            <a:r>
              <a:rPr lang="en-US" dirty="0" smtClean="0"/>
              <a:t>• The coefficient relating x and y is 25.</a:t>
            </a:r>
          </a:p>
          <a:p>
            <a:r>
              <a:rPr lang="en-US" dirty="0" smtClean="0"/>
              <a:t>• It seems deterministic. </a:t>
            </a:r>
            <a:endParaRPr lang="en-US" dirty="0" smtClean="0">
              <a:latin typeface="Bookman Old Style" panose="02050604050505020204" pitchFamily="18" charset="0"/>
            </a:endParaRPr>
          </a:p>
          <a:p>
            <a:endParaRPr lang="en-US" dirty="0"/>
          </a:p>
        </p:txBody>
      </p:sp>
      <p:pic>
        <p:nvPicPr>
          <p:cNvPr id="2050" name="Picture 2"/>
          <p:cNvPicPr>
            <a:picLocks noChangeAspect="1" noChangeArrowheads="1"/>
          </p:cNvPicPr>
          <p:nvPr/>
        </p:nvPicPr>
        <p:blipFill>
          <a:blip r:embed="rId2"/>
          <a:srcRect/>
          <a:stretch>
            <a:fillRect/>
          </a:stretch>
        </p:blipFill>
        <p:spPr bwMode="auto">
          <a:xfrm>
            <a:off x="7394086" y="2829657"/>
            <a:ext cx="4351338" cy="369570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4128" y="791308"/>
            <a:ext cx="9720071" cy="5518052"/>
          </a:xfrm>
        </p:spPr>
        <p:txBody>
          <a:bodyPr/>
          <a:lstStyle/>
          <a:p>
            <a:pPr algn="just"/>
            <a:r>
              <a:rPr lang="en-US" b="1" dirty="0" smtClean="0"/>
              <a:t>Example 2</a:t>
            </a:r>
            <a:r>
              <a:rPr lang="en-US" dirty="0" smtClean="0"/>
              <a:t>. Say you have a dataset keyed by user (meaning each row contains data for a single user), and the columns represent user behavior on a social networking site over a period of a week. Let’s say you feel comfortable that the data is clean at this stage and that you have on the order of hundreds of thousands of users. The names of the columns are </a:t>
            </a:r>
            <a:r>
              <a:rPr lang="en-US" dirty="0" err="1" smtClean="0"/>
              <a:t>total_num_friends</a:t>
            </a:r>
            <a:r>
              <a:rPr lang="en-US" dirty="0" smtClean="0"/>
              <a:t>, </a:t>
            </a:r>
            <a:r>
              <a:rPr lang="en-US" dirty="0" err="1" smtClean="0"/>
              <a:t>total_new_friends_this_week</a:t>
            </a:r>
            <a:r>
              <a:rPr lang="en-US" dirty="0" smtClean="0"/>
              <a:t>, </a:t>
            </a:r>
            <a:r>
              <a:rPr lang="en-US" dirty="0" err="1" smtClean="0"/>
              <a:t>num_visits</a:t>
            </a:r>
            <a:r>
              <a:rPr lang="en-US" dirty="0" smtClean="0"/>
              <a:t>, </a:t>
            </a:r>
            <a:r>
              <a:rPr lang="en-US" dirty="0" err="1" smtClean="0"/>
              <a:t>time_spent</a:t>
            </a:r>
            <a:r>
              <a:rPr lang="en-US" dirty="0" smtClean="0"/>
              <a:t>, num </a:t>
            </a:r>
            <a:r>
              <a:rPr lang="en-US" dirty="0" err="1" smtClean="0"/>
              <a:t>ber_apps_downloaded</a:t>
            </a:r>
            <a:r>
              <a:rPr lang="en-US" dirty="0" smtClean="0"/>
              <a:t>, </a:t>
            </a:r>
            <a:r>
              <a:rPr lang="en-US" dirty="0" err="1" smtClean="0"/>
              <a:t>number_ads_shown</a:t>
            </a:r>
            <a:r>
              <a:rPr lang="en-US" dirty="0" smtClean="0"/>
              <a:t>, gender, age, and so on.</a:t>
            </a:r>
          </a:p>
          <a:p>
            <a:endParaRPr lang="en-US" dirty="0"/>
          </a:p>
        </p:txBody>
      </p:sp>
      <p:pic>
        <p:nvPicPr>
          <p:cNvPr id="4" name="Picture 3">
            <a:extLst>
              <a:ext uri="{FF2B5EF4-FFF2-40B4-BE49-F238E27FC236}">
                <a16:creationId xmlns="" xmlns:a16="http://schemas.microsoft.com/office/drawing/2014/main" id="{D78B1706-D23B-80B1-16CE-CA500DE15022}"/>
              </a:ext>
            </a:extLst>
          </p:cNvPr>
          <p:cNvPicPr>
            <a:picLocks noChangeAspect="1"/>
          </p:cNvPicPr>
          <p:nvPr/>
        </p:nvPicPr>
        <p:blipFill>
          <a:blip r:embed="rId2"/>
          <a:stretch>
            <a:fillRect/>
          </a:stretch>
        </p:blipFill>
        <p:spPr>
          <a:xfrm>
            <a:off x="1435178" y="3191580"/>
            <a:ext cx="2235288" cy="2410562"/>
          </a:xfrm>
          <a:prstGeom prst="rect">
            <a:avLst/>
          </a:prstGeom>
        </p:spPr>
      </p:pic>
      <p:pic>
        <p:nvPicPr>
          <p:cNvPr id="5" name="Picture 4">
            <a:extLst>
              <a:ext uri="{FF2B5EF4-FFF2-40B4-BE49-F238E27FC236}">
                <a16:creationId xmlns="" xmlns:a16="http://schemas.microsoft.com/office/drawing/2014/main" id="{619D4ACC-19D8-412C-883E-24C7EB801499}"/>
              </a:ext>
            </a:extLst>
          </p:cNvPr>
          <p:cNvPicPr>
            <a:picLocks noChangeAspect="1"/>
          </p:cNvPicPr>
          <p:nvPr/>
        </p:nvPicPr>
        <p:blipFill>
          <a:blip r:embed="rId3"/>
          <a:stretch>
            <a:fillRect/>
          </a:stretch>
        </p:blipFill>
        <p:spPr>
          <a:xfrm>
            <a:off x="6974347" y="2876592"/>
            <a:ext cx="4214273" cy="373522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D62B7703-39E5-423B-B400-FB44B7886DC2}"/>
              </a:ext>
            </a:extLst>
          </p:cNvPr>
          <p:cNvPicPr>
            <a:picLocks noChangeAspect="1"/>
          </p:cNvPicPr>
          <p:nvPr/>
        </p:nvPicPr>
        <p:blipFill>
          <a:blip r:embed="rId2"/>
          <a:stretch>
            <a:fillRect/>
          </a:stretch>
        </p:blipFill>
        <p:spPr>
          <a:xfrm>
            <a:off x="2887479" y="778529"/>
            <a:ext cx="5805362" cy="509733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9FFA5040-5597-4F39-A8C2-0EB493967067}"/>
              </a:ext>
            </a:extLst>
          </p:cNvPr>
          <p:cNvPicPr>
            <a:picLocks noChangeAspect="1"/>
          </p:cNvPicPr>
          <p:nvPr/>
        </p:nvPicPr>
        <p:blipFill>
          <a:blip r:embed="rId2"/>
          <a:stretch>
            <a:fillRect/>
          </a:stretch>
        </p:blipFill>
        <p:spPr>
          <a:xfrm>
            <a:off x="3285081" y="1116623"/>
            <a:ext cx="5217082" cy="456507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4128" y="677008"/>
            <a:ext cx="9720071" cy="5632352"/>
          </a:xfrm>
        </p:spPr>
        <p:txBody>
          <a:bodyPr/>
          <a:lstStyle/>
          <a:p>
            <a:r>
              <a:rPr lang="en-US" dirty="0" smtClean="0">
                <a:latin typeface="Times New Roman" panose="02020603050405020304" pitchFamily="18" charset="0"/>
                <a:cs typeface="Times New Roman" panose="02020603050405020304" pitchFamily="18" charset="0"/>
              </a:rPr>
              <a:t>To find this line, you’ll define the “residual sum of squares” (RSS), denoted </a:t>
            </a:r>
            <a:r>
              <a:rPr lang="en-US" i="1" dirty="0" smtClean="0">
                <a:latin typeface="Times New Roman" panose="02020603050405020304" pitchFamily="18" charset="0"/>
                <a:cs typeface="Times New Roman" panose="02020603050405020304" pitchFamily="18" charset="0"/>
              </a:rPr>
              <a:t>RSS (β) </a:t>
            </a:r>
            <a:r>
              <a:rPr lang="en-US" dirty="0" smtClean="0">
                <a:latin typeface="Times New Roman" panose="02020603050405020304" pitchFamily="18" charset="0"/>
                <a:cs typeface="Times New Roman" panose="02020603050405020304" pitchFamily="18" charset="0"/>
              </a:rPr>
              <a:t> to be:</a:t>
            </a:r>
          </a:p>
          <a:p>
            <a:endParaRPr lang="en-US" dirty="0"/>
          </a:p>
        </p:txBody>
      </p:sp>
      <p:pic>
        <p:nvPicPr>
          <p:cNvPr id="4" name="Picture 3">
            <a:extLst>
              <a:ext uri="{FF2B5EF4-FFF2-40B4-BE49-F238E27FC236}">
                <a16:creationId xmlns="" xmlns:a16="http://schemas.microsoft.com/office/drawing/2014/main" id="{EE8A3AB3-9325-48A1-AD17-11D5B90AC2D1}"/>
              </a:ext>
            </a:extLst>
          </p:cNvPr>
          <p:cNvPicPr>
            <a:picLocks noChangeAspect="1"/>
          </p:cNvPicPr>
          <p:nvPr/>
        </p:nvPicPr>
        <p:blipFill>
          <a:blip r:embed="rId2"/>
          <a:stretch>
            <a:fillRect/>
          </a:stretch>
        </p:blipFill>
        <p:spPr>
          <a:xfrm>
            <a:off x="3459844" y="1698618"/>
            <a:ext cx="3817988" cy="840658"/>
          </a:xfrm>
          <a:prstGeom prst="rect">
            <a:avLst/>
          </a:prstGeom>
        </p:spPr>
      </p:pic>
      <p:pic>
        <p:nvPicPr>
          <p:cNvPr id="3074" name="Picture 2"/>
          <p:cNvPicPr>
            <a:picLocks noChangeAspect="1" noChangeArrowheads="1"/>
          </p:cNvPicPr>
          <p:nvPr/>
        </p:nvPicPr>
        <p:blipFill>
          <a:blip r:embed="rId3"/>
          <a:srcRect/>
          <a:stretch>
            <a:fillRect/>
          </a:stretch>
        </p:blipFill>
        <p:spPr bwMode="auto">
          <a:xfrm>
            <a:off x="694592" y="3400548"/>
            <a:ext cx="10559562" cy="1830093"/>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78522" y="767081"/>
            <a:ext cx="10703169" cy="369332"/>
          </a:xfrm>
          <a:prstGeom prst="rect">
            <a:avLst/>
          </a:prstGeom>
        </p:spPr>
        <p:txBody>
          <a:bodyPr wrap="square">
            <a:spAutoFit/>
          </a:bodyPr>
          <a:lstStyle/>
          <a:p>
            <a:pPr lvl="0" algn="just" fontAlgn="base">
              <a:spcBef>
                <a:spcPct val="0"/>
              </a:spcBef>
              <a:spcAft>
                <a:spcPct val="0"/>
              </a:spcAft>
            </a:pPr>
            <a:r>
              <a:rPr lang="en-US" dirty="0" smtClean="0">
                <a:solidFill>
                  <a:srgbClr val="333333"/>
                </a:solidFill>
                <a:latin typeface="Times New Roman" pitchFamily="18" charset="0"/>
                <a:cs typeface="Times New Roman" pitchFamily="18" charset="0"/>
              </a:rPr>
              <a:t>Obtain regression equation of </a:t>
            </a:r>
            <a:r>
              <a:rPr lang="en-US" i="1" dirty="0" smtClean="0">
                <a:solidFill>
                  <a:srgbClr val="333333"/>
                </a:solidFill>
                <a:latin typeface="Times New Roman" pitchFamily="18" charset="0"/>
                <a:cs typeface="Times New Roman" pitchFamily="18" charset="0"/>
              </a:rPr>
              <a:t>Y</a:t>
            </a:r>
            <a:r>
              <a:rPr lang="en-US" dirty="0" smtClean="0">
                <a:solidFill>
                  <a:srgbClr val="333333"/>
                </a:solidFill>
                <a:latin typeface="Times New Roman" pitchFamily="18" charset="0"/>
                <a:cs typeface="Times New Roman" pitchFamily="18" charset="0"/>
              </a:rPr>
              <a:t> on </a:t>
            </a:r>
            <a:r>
              <a:rPr lang="en-US" i="1" dirty="0" smtClean="0">
                <a:solidFill>
                  <a:srgbClr val="333333"/>
                </a:solidFill>
                <a:latin typeface="Times New Roman" pitchFamily="18" charset="0"/>
                <a:cs typeface="Times New Roman" pitchFamily="18" charset="0"/>
              </a:rPr>
              <a:t>X</a:t>
            </a:r>
            <a:r>
              <a:rPr lang="en-US" dirty="0" smtClean="0">
                <a:solidFill>
                  <a:srgbClr val="333333"/>
                </a:solidFill>
                <a:latin typeface="Times New Roman" pitchFamily="18" charset="0"/>
                <a:cs typeface="Times New Roman" pitchFamily="18" charset="0"/>
              </a:rPr>
              <a:t> and estimate </a:t>
            </a:r>
            <a:r>
              <a:rPr lang="en-US" i="1" dirty="0" smtClean="0">
                <a:solidFill>
                  <a:srgbClr val="333333"/>
                </a:solidFill>
                <a:latin typeface="Times New Roman" pitchFamily="18" charset="0"/>
                <a:cs typeface="Times New Roman" pitchFamily="18" charset="0"/>
              </a:rPr>
              <a:t>Y</a:t>
            </a:r>
            <a:r>
              <a:rPr lang="en-US" dirty="0" smtClean="0">
                <a:solidFill>
                  <a:srgbClr val="333333"/>
                </a:solidFill>
                <a:latin typeface="Times New Roman" pitchFamily="18" charset="0"/>
                <a:cs typeface="Times New Roman" pitchFamily="18" charset="0"/>
              </a:rPr>
              <a:t> when </a:t>
            </a:r>
            <a:r>
              <a:rPr lang="en-US" i="1" dirty="0" smtClean="0">
                <a:solidFill>
                  <a:srgbClr val="333333"/>
                </a:solidFill>
                <a:latin typeface="Times New Roman" pitchFamily="18" charset="0"/>
                <a:cs typeface="Times New Roman" pitchFamily="18" charset="0"/>
              </a:rPr>
              <a:t>X</a:t>
            </a:r>
            <a:r>
              <a:rPr lang="en-US" dirty="0" smtClean="0">
                <a:solidFill>
                  <a:srgbClr val="333333"/>
                </a:solidFill>
                <a:latin typeface="Times New Roman" pitchFamily="18" charset="0"/>
                <a:cs typeface="Times New Roman" pitchFamily="18" charset="0"/>
              </a:rPr>
              <a:t>=55 from the following</a:t>
            </a:r>
            <a:endParaRPr lang="en-US" sz="1400" dirty="0" smtClean="0">
              <a:latin typeface="Arial" pitchFamily="34" charset="0"/>
              <a:cs typeface="Arial" pitchFamily="34" charset="0"/>
            </a:endParaRPr>
          </a:p>
        </p:txBody>
      </p:sp>
      <p:pic>
        <p:nvPicPr>
          <p:cNvPr id="5" name="Picture 2" descr="https://img.brainkart.com/imagebk38/mF1dx8b.jpg"/>
          <p:cNvPicPr>
            <a:picLocks noChangeAspect="1" noChangeArrowheads="1"/>
          </p:cNvPicPr>
          <p:nvPr/>
        </p:nvPicPr>
        <p:blipFill>
          <a:blip r:embed="rId2"/>
          <a:srcRect/>
          <a:stretch>
            <a:fillRect/>
          </a:stretch>
        </p:blipFill>
        <p:spPr bwMode="auto">
          <a:xfrm>
            <a:off x="1436077" y="2734167"/>
            <a:ext cx="10038466" cy="1333942"/>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07367" y="1214846"/>
            <a:ext cx="9729128" cy="4559197"/>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xmlns="" name="Integral" id="{3577F8C9-A904-41D8-97D2-FD898F53F20E}" vid="{090DCB5F-146D-478A-852A-34B16FE9F3A8}"/>
    </a:ext>
  </a:extLst>
</a:theme>
</file>

<file path=docProps/app.xml><?xml version="1.0" encoding="utf-8"?>
<Properties xmlns="http://schemas.openxmlformats.org/officeDocument/2006/extended-properties" xmlns:vt="http://schemas.openxmlformats.org/officeDocument/2006/docPropsVTypes">
  <Template>Integral</Template>
  <TotalTime>572</TotalTime>
  <Words>1345</Words>
  <Application>Microsoft Office PowerPoint</Application>
  <PresentationFormat>Custom</PresentationFormat>
  <Paragraphs>114</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Integral</vt:lpstr>
      <vt:lpstr>Module 2  Exploratory Data Analysis and the Data Science Process</vt:lpstr>
      <vt:lpstr>Exploratory Data Analysis</vt:lpstr>
      <vt:lpstr>Slide 3</vt:lpstr>
      <vt:lpstr>Slide 4</vt:lpstr>
      <vt:lpstr>Philosophy of Exploratory Data Analysis</vt:lpstr>
      <vt:lpstr>Slide 6</vt:lpstr>
      <vt:lpstr>Data Science Process</vt:lpstr>
      <vt:lpstr>A Data Scientist’s Role in This Process</vt:lpstr>
      <vt:lpstr>Thought Experiment: How Would You Simulate Chaos?</vt:lpstr>
      <vt:lpstr>Slide 10</vt:lpstr>
      <vt:lpstr>Case Study: Real Direct</vt:lpstr>
      <vt:lpstr>Slide 12</vt:lpstr>
      <vt:lpstr>Slide 13</vt:lpstr>
      <vt:lpstr>Slide 14</vt:lpstr>
      <vt:lpstr>Slide 15</vt:lpstr>
      <vt:lpstr>Machine Learning Algorithms</vt:lpstr>
      <vt:lpstr>Statistics and Machine Learning </vt:lpstr>
      <vt:lpstr>Linear Regression </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Exploratory Data Analysis and the Data Science Process</dc:title>
  <dc:creator>Windows User</dc:creator>
  <cp:lastModifiedBy>Ananya A</cp:lastModifiedBy>
  <cp:revision>51</cp:revision>
  <dcterms:created xsi:type="dcterms:W3CDTF">2026-08-27T04:22:50Z</dcterms:created>
  <dcterms:modified xsi:type="dcterms:W3CDTF">2026-10-07T17:18:57Z</dcterms:modified>
</cp:coreProperties>
</file>